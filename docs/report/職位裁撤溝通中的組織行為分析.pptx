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報告題目。大家已事先玩過《最後一次簽名》，今天用組織行為理論回頭看遊戲裡的情境。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普利司通的資遣條件優於法定標準，但員工仍在 3 天內被分批送去協商。我們想問：結果改不了時，怎麼執行會影響員工的感受。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全班已在課前試玩，扮演主管周予安。接下來每個理論都會回到遊戲裡的片段。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組織正義有四個面向。裁員時分配正義（結果）改不了，所以兩種處理方式在這一軸重疊；差別全在另外三軸。這張是示意圖，不是調查數據。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推薦信和作品核准還在主管手上，所以私下補償或表白都不是對等的互動，員工很難拒絕。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中階主管沒參與決定，卻要親自去說。研究發現抽離會讓對待變冷淡，願意投入的人反而能體貼對待。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三個理論各對應一個可以做的事。最後用一句玩笑收尾。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遊戲畫面：黃昏的會議室，右下方為主管周予安、設計師林雨澄、HR 曾雅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面板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C1A24">
              <a:alpha val="93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98500" y="819150"/>
            <a:ext cx="88900" cy="88900"/>
          </a:xfrm>
          <a:prstGeom prst="rect">
            <a:avLst/>
          </a:prstGeom>
          <a:solidFill>
            <a:srgbClr val="E8B75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89000" y="749300"/>
            <a:ext cx="482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組織行為 Organizational Behavior 期末報告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17145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職位裁撤溝通中的</a:t>
            </a:r>
            <a:endParaRPr lang="en-US" sz="3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組織行為分析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314325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以台灣普利司通新竹廠關廠事件為例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搭配遊戲《最後一次簽名》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8500" y="59690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成員　　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M27 17、Ciao、Jimmy、Lily、育瑄、乾爹、阿青、Rene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17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動機背景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533400"/>
            <a:ext cx="539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台灣普利司通新竹廠關廠事件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10795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月，台灣普利司通宣布新竹廠停產、結束當地製造業務。公司說明此決定源於全球營運策略調整，在台業務將轉為銷售與服務。</a:t>
            </a:r>
            <a:endParaRPr lang="en-US" sz="1350" dirty="0"/>
          </a:p>
        </p:txBody>
      </p:sp>
      <p:sp>
        <p:nvSpPr>
          <p:cNvPr id="5" name="數據卡"/>
          <p:cNvSpPr/>
          <p:nvPr/>
        </p:nvSpPr>
        <p:spPr>
          <a:xfrm>
            <a:off x="546100" y="2095500"/>
            <a:ext cx="1731433" cy="20955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8500" y="2540000"/>
            <a:ext cx="1426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550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98500" y="3175000"/>
            <a:ext cx="14266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名員工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受影響</a:t>
            </a:r>
            <a:endParaRPr lang="en-US" sz="1300" dirty="0"/>
          </a:p>
        </p:txBody>
      </p:sp>
      <p:sp>
        <p:nvSpPr>
          <p:cNvPr id="8" name="數據卡"/>
          <p:cNvSpPr/>
          <p:nvPr/>
        </p:nvSpPr>
        <p:spPr>
          <a:xfrm>
            <a:off x="2379133" y="2095500"/>
            <a:ext cx="1731433" cy="20955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31533" y="2540000"/>
            <a:ext cx="1426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8AE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天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531533" y="3175000"/>
            <a:ext cx="14266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從通知員工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到個別協商</a:t>
            </a:r>
            <a:endParaRPr lang="en-US" sz="1300" dirty="0"/>
          </a:p>
        </p:txBody>
      </p:sp>
      <p:sp>
        <p:nvSpPr>
          <p:cNvPr id="11" name="數據卡"/>
          <p:cNvSpPr/>
          <p:nvPr/>
        </p:nvSpPr>
        <p:spPr>
          <a:xfrm>
            <a:off x="4212167" y="2095500"/>
            <a:ext cx="1731433" cy="20955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64567" y="2540000"/>
            <a:ext cx="1426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39A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364567" y="3175000"/>
            <a:ext cx="14266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員工於 5/28 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已簽署協議</a:t>
            </a:r>
            <a:endParaRPr lang="en-US" sz="1300" dirty="0"/>
          </a:p>
        </p:txBody>
      </p:sp>
      <p:pic>
        <p:nvPicPr>
          <p:cNvPr id="14" name="Image 0" descr="台灣普利司通新竹廠辦公大樓外觀，屋頂有 BRIDGESTONE 標誌，前方立著大型輪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17500"/>
            <a:ext cx="5384800" cy="3873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43600" y="3848100"/>
            <a:ext cx="3556000" cy="342900"/>
          </a:xfrm>
          <a:prstGeom prst="rect">
            <a:avLst/>
          </a:prstGeom>
          <a:solidFill>
            <a:srgbClr val="0C1A24">
              <a:alpha val="8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83300" y="3848100"/>
            <a:ext cx="336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台灣普利司通新竹廠　</a:t>
            </a:r>
            <a:pPr indent="0" marL="0"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新竹工業區，營運逾 40 年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300" y="4514850"/>
            <a:ext cx="10947400" cy="0"/>
          </a:xfrm>
          <a:prstGeom prst="line">
            <a:avLst/>
          </a:prstGeom>
          <a:noFill/>
          <a:ln w="25400">
            <a:solidFill>
              <a:srgbClr val="D5DC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6100" y="4445000"/>
            <a:ext cx="152400" cy="152400"/>
          </a:xfrm>
          <a:prstGeom prst="ellipse">
            <a:avLst/>
          </a:prstGeom>
          <a:solidFill>
            <a:srgbClr val="2C687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6100" y="4660900"/>
            <a:ext cx="266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月 6 日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6100" y="4914900"/>
            <a:ext cx="2597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向工會幹部說明資遣方案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59150" y="4445000"/>
            <a:ext cx="152400" cy="152400"/>
          </a:xfrm>
          <a:prstGeom prst="ellipse">
            <a:avLst/>
          </a:prstGeom>
          <a:solidFill>
            <a:srgbClr val="2C687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359150" y="4660900"/>
            <a:ext cx="266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月 8 日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359150" y="4914900"/>
            <a:ext cx="2597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通知縣政府與員工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72200" y="4445000"/>
            <a:ext cx="152400" cy="152400"/>
          </a:xfrm>
          <a:prstGeom prst="ellipse">
            <a:avLst/>
          </a:prstGeom>
          <a:solidFill>
            <a:srgbClr val="7E434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72200" y="4660900"/>
            <a:ext cx="266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月 11 日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172200" y="4914900"/>
            <a:ext cx="2597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宣布即日停產；分批送員工至四處地點協商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85250" y="4445000"/>
            <a:ext cx="152400" cy="152400"/>
          </a:xfrm>
          <a:prstGeom prst="ellipse">
            <a:avLst/>
          </a:prstGeom>
          <a:solidFill>
            <a:srgbClr val="2C687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985250" y="4660900"/>
            <a:ext cx="266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月 28 日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985250" y="4914900"/>
            <a:ext cx="2597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廠內舉辦就業媒合會</a:t>
            </a:r>
            <a:endParaRPr lang="en-US" sz="1050" dirty="0"/>
          </a:p>
        </p:txBody>
      </p:sp>
      <p:sp>
        <p:nvSpPr>
          <p:cNvPr id="30" name="本報告關注"/>
          <p:cNvSpPr/>
          <p:nvPr/>
        </p:nvSpPr>
        <p:spPr>
          <a:xfrm>
            <a:off x="546100" y="5511800"/>
            <a:ext cx="11099800" cy="49530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11200" y="5511800"/>
            <a:ext cx="1079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本報告關注：</a:t>
            </a:r>
            <a:pPr indent="0" marL="0"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資遣條件優於法定標準，關廠結果也無法改變；員工的反應仍取決於通知、說明與協商如何進行。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6100" y="6527800"/>
            <a:ext cx="1071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資料來源：民報（5/11）；TVBS 新聞，今周刊轉載（5/12）；NOWnews（5/28）。受影響人數各報導介於 551–553 人。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264900" y="65278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175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遊戲介紹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533400"/>
            <a:ext cx="444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體驗式對話</a:t>
            </a:r>
            <a:endParaRPr lang="en-US" sz="2500" dirty="0"/>
          </a:p>
        </p:txBody>
      </p:sp>
      <p:sp>
        <p:nvSpPr>
          <p:cNvPr id="4" name="研究問題"/>
          <p:cNvSpPr/>
          <p:nvPr/>
        </p:nvSpPr>
        <p:spPr>
          <a:xfrm>
            <a:off x="546100" y="1104900"/>
            <a:ext cx="4445000" cy="15240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300" y="1295400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300" y="1549400"/>
            <a:ext cx="4038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在裁撤決定已無法改變的情況下，主管的告知與處理方式涉及哪些組織行為議題？這些議題如何影響員工的反應？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6100" y="27940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《最後一次簽名》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6100" y="30734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親自扮演中階主管，走過一次裁員談話。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6100" y="34798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故事概要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6100" y="37592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新創公司「微光互動」失去最大客戶，決定裁撤設計師的職位。直屬主管須在下班前親自告知，HR 在場說明文件與程序。故事為虛構。</a:t>
            </a:r>
            <a:endParaRPr lang="en-US" sz="1150" dirty="0"/>
          </a:p>
        </p:txBody>
      </p:sp>
      <p:pic>
        <p:nvPicPr>
          <p:cNvPr id="11" name="Image 0" descr="周予安半身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0" y="317500"/>
            <a:ext cx="2000250" cy="5105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97500" y="5422900"/>
            <a:ext cx="2000250" cy="9271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549900" y="55372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8AE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周予安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549900" y="5829300"/>
            <a:ext cx="171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產品設計部主管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負責親自告知裁撤</a:t>
            </a:r>
            <a:endParaRPr lang="en-US" sz="1000" dirty="0"/>
          </a:p>
        </p:txBody>
      </p:sp>
      <p:pic>
        <p:nvPicPr>
          <p:cNvPr id="15" name="Image 1" descr="林雨澄半身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317500"/>
            <a:ext cx="2000250" cy="5105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524750" y="5422900"/>
            <a:ext cx="2000250" cy="9271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677150" y="55372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林雨澄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677150" y="5829300"/>
            <a:ext cx="171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產品設計師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職位遭裁撤</a:t>
            </a:r>
            <a:endParaRPr lang="en-US" sz="1000" dirty="0"/>
          </a:p>
        </p:txBody>
      </p:sp>
      <p:pic>
        <p:nvPicPr>
          <p:cNvPr id="19" name="Image 2" descr="曾雅琳半身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0" y="317500"/>
            <a:ext cx="2000250" cy="51054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652000" y="5422900"/>
            <a:ext cx="2000250" cy="9271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804400" y="55372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39A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曾雅琳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9804400" y="5829300"/>
            <a:ext cx="171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業務夥伴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說明文件與程序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46100" y="6527800"/>
            <a:ext cx="1071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組織行為期末報告｜職位裁撤溝通中的組織行為分析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264900" y="65278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雷達圖區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6100" y="279400"/>
            <a:ext cx="82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435100" y="3302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理論分析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35100" y="5207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組織正義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6100" y="965200"/>
            <a:ext cx="596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Organizational Justice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6100" y="1270000"/>
            <a:ext cx="5168900" cy="584200"/>
          </a:xfrm>
          <a:prstGeom prst="rect">
            <a:avLst/>
          </a:prstGeom>
          <a:solidFill>
            <a:srgbClr val="EAF2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3900" y="1270000"/>
            <a:ext cx="4826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員工會從四個地方，判斷公司對自己公不公平</a:t>
            </a:r>
            <a:pPr indent="0" marL="0">
              <a:buNone/>
            </a:pPr>
            <a:r>
              <a:rPr lang="en-US" sz="1400" b="1" baseline="3000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6100" y="2019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6100" y="23749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9000" y="23876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結果越糟，員工就越在意「過程」公不公平</a:t>
            </a:r>
            <a:pPr indent="0" marL="0">
              <a:lnSpc>
                <a:spcPct val="125000"/>
              </a:lnSpc>
              <a:buNone/>
            </a:pPr>
            <a:r>
              <a:rPr lang="en-US" sz="1250" b="1" baseline="3000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6100" y="27305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89000" y="2743200"/>
            <a:ext cx="482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就算決定已經做好了，讓員工有機會說出想法，他們還是會覺得比較公平</a:t>
            </a:r>
            <a:pPr indent="0" marL="0">
              <a:lnSpc>
                <a:spcPct val="125000"/>
              </a:lnSpc>
              <a:buNone/>
            </a:pPr>
            <a:r>
              <a:rPr lang="en-US" sz="1250" b="1" baseline="3000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50" dirty="0"/>
          </a:p>
        </p:txBody>
      </p:sp>
      <p:sp>
        <p:nvSpPr>
          <p:cNvPr id="14" name="原文引用"/>
          <p:cNvSpPr/>
          <p:nvPr/>
        </p:nvSpPr>
        <p:spPr>
          <a:xfrm>
            <a:off x="546100" y="3556000"/>
            <a:ext cx="5168900" cy="1841500"/>
          </a:xfrm>
          <a:prstGeom prst="rect">
            <a:avLst/>
          </a:prstGeom>
          <a:solidFill>
            <a:srgbClr val="0C1A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600" y="37211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原文引用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6600" y="39751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“Both pre- and postdecision voice led to higher fairness judgments than no voice”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600" y="4546600"/>
            <a:ext cx="482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不管在決定前或決定後讓人說話，都比完全不讓人說話更讓人覺得公平。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6600" y="508000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Lind, Kanfer, &amp; Earley (1990)，摘要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6100" y="6324600"/>
            <a:ext cx="5168900" cy="0"/>
          </a:xfrm>
          <a:prstGeom prst="line">
            <a:avLst/>
          </a:prstGeom>
          <a:noFill/>
          <a:ln w="9525">
            <a:solidFill>
              <a:srgbClr val="D5DC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6100" y="6388100"/>
            <a:ext cx="485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Sources　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Colquitt (2001)　2 Brockner &amp; Wiesenfeld (1996)　3 Lind, Kanfer, &amp; Earley (1990)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397500" y="63881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13500" y="279400"/>
            <a:ext cx="444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同樣被裁員，感受可以差很多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201400" y="304800"/>
            <a:ext cx="698500" cy="2413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9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201400" y="304800"/>
            <a:ext cx="698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示意圖</a:t>
            </a:r>
            <a:endParaRPr lang="en-US" sz="1050" dirty="0"/>
          </a:p>
        </p:txBody>
      </p:sp>
      <p:pic>
        <p:nvPicPr>
          <p:cNvPr id="25" name="Image 0" descr="雷達示意圖：分配正義兩者相同偏低；程序、人際、資訊正義在處理得當時高、處理不當時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0" y="1270000"/>
            <a:ext cx="4064000" cy="40640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874000" y="762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分配正義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拿到的結果，例如資遣費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0769600" y="2933700"/>
            <a:ext cx="1358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程序正義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過程公不公平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能不能說話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874000" y="495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人際正義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有沒有被尊重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159500" y="2933700"/>
            <a:ext cx="1358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資訊正義</a:t>
            </a:r>
            <a:endParaRPr lang="en-US" sz="160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有沒有說清楚</a:t>
            </a:r>
            <a:endParaRPr lang="en-US" sz="160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有沒有說實話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271000" y="2463800"/>
            <a:ext cx="1333500" cy="25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1A2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71000" y="24638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結果相同，改不了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13500" y="6210300"/>
            <a:ext cx="279400" cy="0"/>
          </a:xfrm>
          <a:prstGeom prst="line">
            <a:avLst/>
          </a:prstGeom>
          <a:noFill/>
          <a:ln w="44450">
            <a:solidFill>
              <a:srgbClr val="2C687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769100" y="60960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處理得當：說清楚、給時間、尊重對方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413500" y="6508750"/>
            <a:ext cx="279400" cy="0"/>
          </a:xfrm>
          <a:prstGeom prst="line">
            <a:avLst/>
          </a:prstGeom>
          <a:noFill/>
          <a:ln w="44450">
            <a:solidFill>
              <a:srgbClr val="9E6068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6769100" y="639445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處理不當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會議室場景中的林雨澄，神情警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6100" y="279400"/>
            <a:ext cx="82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1435100" y="3302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理論分析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435100" y="5207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社會交換：互惠與權力依賴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6100" y="965200"/>
            <a:ext cx="596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Social Exchange · Norm of Reciprocity · Power-Dependence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6100" y="1270000"/>
            <a:ext cx="2952750" cy="1079500"/>
          </a:xfrm>
          <a:prstGeom prst="rect">
            <a:avLst/>
          </a:prstGeom>
          <a:solidFill>
            <a:srgbClr val="F5EC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8500" y="1409700"/>
            <a:ext cx="26479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互惠規範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8500" y="1701800"/>
            <a:ext cx="2647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收了別人的好處，就會覺得欠對方、想要回報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87750" y="1270000"/>
            <a:ext cx="2952750" cy="1079500"/>
          </a:xfrm>
          <a:prstGeom prst="rect">
            <a:avLst/>
          </a:prstGeom>
          <a:solidFill>
            <a:srgbClr val="F5EC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40150" y="1409700"/>
            <a:ext cx="26479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權力依賴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740150" y="1701800"/>
            <a:ext cx="2647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你越需要對方手上的東西，對方對你的影響力就越大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6100" y="2514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6100" y="28575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9000" y="2870200"/>
            <a:ext cx="565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740 人的實驗：就算是沒附任何條件的小禮物，也會讓收禮的人偏向送禮的人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6100" y="338455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9000" y="3397250"/>
            <a:ext cx="56515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主動示好的人，常常低估對方要拒絕有多難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6100" y="36957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9000" y="3708400"/>
            <a:ext cx="56515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上司和下屬之間有權力差距，私人關係很難是對等的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6100" y="6324600"/>
            <a:ext cx="5994400" cy="0"/>
          </a:xfrm>
          <a:prstGeom prst="line">
            <a:avLst/>
          </a:prstGeom>
          <a:noFill/>
          <a:ln w="9525">
            <a:solidFill>
              <a:srgbClr val="D5DC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6100" y="6388100"/>
            <a:ext cx="5676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Sources　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Gouldner (1960)　2 Emerson (1962)　3 Malmendier &amp; Schmidt (2017)　4 Bohns &amp; DeVincent (2019)　5 Pierce &amp; Aguinis (1997)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223000" y="63881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原文引用"/>
          <p:cNvSpPr/>
          <p:nvPr/>
        </p:nvSpPr>
        <p:spPr>
          <a:xfrm>
            <a:off x="7239000" y="254000"/>
            <a:ext cx="4699000" cy="1714500"/>
          </a:xfrm>
          <a:prstGeom prst="rect">
            <a:avLst/>
          </a:prstGeom>
          <a:solidFill>
            <a:srgbClr val="0C1A24">
              <a:alpha val="88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16800" y="406400"/>
            <a:ext cx="431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原文引用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416800" y="635000"/>
            <a:ext cx="4343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“…the power of A over B is equal to, and based upon, the dependence of B upon A”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416800" y="1397000"/>
            <a:ext cx="434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越依賴 A，A 對 B 的權力就越大。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416800" y="1651000"/>
            <a:ext cx="434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Emerson (1962, p. 33)</a:t>
            </a:r>
            <a:endParaRPr lang="en-US" sz="1000" dirty="0"/>
          </a:p>
        </p:txBody>
      </p:sp>
      <p:sp>
        <p:nvSpPr>
          <p:cNvPr id="28" name="遊戲回顧"/>
          <p:cNvSpPr/>
          <p:nvPr/>
        </p:nvSpPr>
        <p:spPr>
          <a:xfrm>
            <a:off x="7188200" y="5334000"/>
            <a:ext cx="4800600" cy="1320800"/>
          </a:xfrm>
          <a:prstGeom prst="rect">
            <a:avLst/>
          </a:prstGeom>
          <a:solidFill>
            <a:srgbClr val="0C1A24">
              <a:alpha val="94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366000" y="5473700"/>
            <a:ext cx="673100" cy="190500"/>
          </a:xfrm>
          <a:prstGeom prst="rect">
            <a:avLst/>
          </a:prstGeom>
          <a:solidFill>
            <a:srgbClr val="E8B75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66000" y="5473700"/>
            <a:ext cx="67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遊戲回顧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366000" y="5740400"/>
            <a:ext cx="444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推薦信和作品核准還沒辦完，主管就提出私下補償、向雨澄表白。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366000" y="62484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雨澄後續還得靠主管處理，很難拒絕；HR 隨即中止談話。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辦公室場景中的主管周予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6100" y="279400"/>
            <a:ext cx="82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1435100" y="3302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理論分析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435100" y="5207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中階主管的角色困境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6100" y="965200"/>
            <a:ext cx="596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Necessary Evils 必要之惡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6100" y="1270000"/>
            <a:ext cx="5994400" cy="863600"/>
          </a:xfrm>
          <a:prstGeom prst="rect">
            <a:avLst/>
          </a:prstGeom>
          <a:solidFill>
            <a:srgbClr val="EDF1E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1200" y="1270000"/>
            <a:ext cx="5664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工作上不得不做、明知會讓別人受傷的事，例如通知員工被裁員，就叫「必要之惡」</a:t>
            </a:r>
            <a:pPr indent="0" marL="0">
              <a:lnSpc>
                <a:spcPct val="125000"/>
              </a:lnSpc>
              <a:buNone/>
            </a:pPr>
            <a:r>
              <a:rPr lang="en-US" sz="1350" b="1" baseline="30000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6100" y="2273300"/>
            <a:ext cx="277495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5DC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387600"/>
            <a:ext cx="2495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高層做決定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28900"/>
            <a:ext cx="24955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中階主管通常沒參與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65550" y="2273300"/>
            <a:ext cx="277495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5DC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05250" y="2387600"/>
            <a:ext cx="2495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中階主管去說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905250" y="2628900"/>
            <a:ext cx="24955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夾在公司和部屬中間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321050" y="24384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6100" y="3086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6100" y="34290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89000" y="3441700"/>
            <a:ext cx="565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覺得裁員是公司自己犯錯造成的主管，談話時比較不自在，也比較想快點結束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6100" y="395605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89000" y="3968750"/>
            <a:ext cx="56515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負責裁員的人壓力太大時，常會把自己的感受關掉、保持距離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6100" y="42672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89000" y="4279900"/>
            <a:ext cx="56515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訪談 111 位執行者：願意投入、不逃避的人，比較能體貼地對待對方</a:t>
            </a:r>
            <a:pPr indent="0" marL="0">
              <a:lnSpc>
                <a:spcPct val="125000"/>
              </a:lnSpc>
              <a:buNone/>
            </a:pPr>
            <a:r>
              <a:rPr lang="en-US" sz="1150" b="1" baseline="30000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6100" y="6324600"/>
            <a:ext cx="5994400" cy="0"/>
          </a:xfrm>
          <a:prstGeom prst="line">
            <a:avLst/>
          </a:prstGeom>
          <a:noFill/>
          <a:ln w="9525">
            <a:solidFill>
              <a:srgbClr val="D5DC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6100" y="6388100"/>
            <a:ext cx="5676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Sources　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Molinsky &amp; Margolis (2005)　2 Folger &amp; Skarlicki (1998)　3 Clair &amp; Dufresne (2004)　4 Margolis &amp; Molinsky (2008)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223000" y="63881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遊戲回顧"/>
          <p:cNvSpPr/>
          <p:nvPr/>
        </p:nvSpPr>
        <p:spPr>
          <a:xfrm>
            <a:off x="7188200" y="5334000"/>
            <a:ext cx="4800600" cy="1320800"/>
          </a:xfrm>
          <a:prstGeom prst="rect">
            <a:avLst/>
          </a:prstGeom>
          <a:solidFill>
            <a:srgbClr val="0C1A24">
              <a:alpha val="94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366000" y="5473700"/>
            <a:ext cx="673100" cy="190500"/>
          </a:xfrm>
          <a:prstGeom prst="rect">
            <a:avLst/>
          </a:prstGeom>
          <a:solidFill>
            <a:srgbClr val="E8B75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66000" y="5473700"/>
            <a:ext cx="67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遊戲回顧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366000" y="5740400"/>
            <a:ext cx="444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裁撤是高層決定的，主管無權撤回，卻得在下班前親自告知雨澄。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366000" y="62484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五點前，他一邊看雨澄最後一版設計稿，一邊準備叫她進會議室。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42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結論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558800"/>
            <a:ext cx="508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1117600"/>
            <a:ext cx="11099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裁員的結果改不了，但員工最後怎麼看待這件事，取決於公司和主管</a:t>
            </a:r>
            <a:pPr indent="0" marL="0">
              <a:buNone/>
            </a:pPr>
            <a:r>
              <a:rPr lang="en-US" sz="1500" b="1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怎麼執行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6100" y="1612900"/>
            <a:ext cx="3598333" cy="241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6100" y="1612900"/>
            <a:ext cx="3598333" cy="508000"/>
          </a:xfrm>
          <a:prstGeom prst="rect">
            <a:avLst/>
          </a:prstGeom>
          <a:solidFill>
            <a:srgbClr val="2C68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8500" y="1612900"/>
            <a:ext cx="32935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組織正義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98500" y="2260600"/>
            <a:ext cx="3293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我們發現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98500" y="2463800"/>
            <a:ext cx="32935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結果越糟，員工越看重「過程」有沒有被好好對待。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8500" y="3048000"/>
            <a:ext cx="3293533" cy="0"/>
          </a:xfrm>
          <a:prstGeom prst="line">
            <a:avLst/>
          </a:prstGeom>
          <a:noFill/>
          <a:ln w="9525">
            <a:solidFill>
              <a:srgbClr val="D5DC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8500" y="3136900"/>
            <a:ext cx="3293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68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所以可以這樣做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8500" y="3340100"/>
            <a:ext cx="32935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當天不要求簽字，讓員工把文件帶回去看，並清楚告訴他之後找誰提問。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6833" y="1612900"/>
            <a:ext cx="3598333" cy="241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6833" y="1612900"/>
            <a:ext cx="3598333" cy="508000"/>
          </a:xfrm>
          <a:prstGeom prst="rect">
            <a:avLst/>
          </a:prstGeom>
          <a:solidFill>
            <a:srgbClr val="7E4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9233" y="1612900"/>
            <a:ext cx="32935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社會交換與權力依賴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449233" y="2260600"/>
            <a:ext cx="3293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我們發現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49233" y="2463800"/>
            <a:ext cx="32935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員工還需要主管手上的推薦信時，主管給的私人好處或表態，員工很難拒絕。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49233" y="3048000"/>
            <a:ext cx="3293533" cy="0"/>
          </a:xfrm>
          <a:prstGeom prst="line">
            <a:avLst/>
          </a:prstGeom>
          <a:noFill/>
          <a:ln w="9525">
            <a:solidFill>
              <a:srgbClr val="D5DC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49233" y="3136900"/>
            <a:ext cx="3293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E4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所以可以這樣做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49233" y="3340100"/>
            <a:ext cx="32935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補償只走公司正式管道；私人關係等離職程序全部結束，由員工自己決定要不要聯絡。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7567" y="1612900"/>
            <a:ext cx="3598333" cy="241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7567" y="1612900"/>
            <a:ext cx="3598333" cy="508000"/>
          </a:xfrm>
          <a:prstGeom prst="rect">
            <a:avLst/>
          </a:prstGeom>
          <a:solidFill>
            <a:srgbClr val="4F6B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99967" y="1612900"/>
            <a:ext cx="32935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中階主管的角色困境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199967" y="2260600"/>
            <a:ext cx="3293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我們發現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199967" y="2463800"/>
            <a:ext cx="32935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負責告知的主管壓力大時，容易想快點結束、保持距離，員工反而覺得被冷淡對待。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99967" y="3048000"/>
            <a:ext cx="3293533" cy="0"/>
          </a:xfrm>
          <a:prstGeom prst="line">
            <a:avLst/>
          </a:prstGeom>
          <a:noFill/>
          <a:ln w="9525">
            <a:solidFill>
              <a:srgbClr val="D5DC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99967" y="3136900"/>
            <a:ext cx="3293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6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所以可以這樣做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99967" y="3340100"/>
            <a:ext cx="32935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C1A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公司事先讓主管知道裁撤原因與可說明的範圍，文件交給 HR，主管專心把話說清楚。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603500" y="5207000"/>
            <a:ext cx="698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你因為窮做過什麼虧心事？</a:t>
            </a:r>
            <a:endParaRPr lang="en-US" sz="2300" dirty="0"/>
          </a:p>
        </p:txBody>
      </p:sp>
      <p:sp>
        <p:nvSpPr>
          <p:cNvPr id="30" name="Text 28"/>
          <p:cNvSpPr txBox="1"/>
          <p:nvPr/>
        </p:nvSpPr>
        <p:spPr>
          <a:xfrm>
            <a:off x="2603500" y="56642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上班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546100" y="6527800"/>
            <a:ext cx="1071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組織行為期末報告｜職位裁撤溝通中的組織行為分析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64900" y="65278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遊戲中的咖啡廳場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095500"/>
            <a:ext cx="1219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0" b="1" spc="600" kern="0" dirty="0">
                <a:solidFill>
                  <a:srgbClr val="E8B7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5588000" y="3810000"/>
            <a:ext cx="1016000" cy="25400"/>
          </a:xfrm>
          <a:prstGeom prst="rect">
            <a:avLst/>
          </a:prstGeom>
          <a:solidFill>
            <a:srgbClr val="E8B75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0" y="40640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謝謝大家試玩《最後一次簽名》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l Signature OB">
  <a:themeElements>
    <a:clrScheme name="Final Signature OB">
      <a:dk1>
        <a:srgbClr val="0C1A24"/>
      </a:dk1>
      <a:lt1>
        <a:srgbClr val="FFFFFF"/>
      </a:lt1>
      <a:dk2>
        <a:srgbClr val="152936"/>
      </a:dk2>
      <a:lt2>
        <a:srgbClr val="F4F6F8"/>
      </a:lt2>
      <a:accent1>
        <a:srgbClr val="2C6872"/>
      </a:accent1>
      <a:accent2>
        <a:srgbClr val="E8B75F"/>
      </a:accent2>
      <a:accent3>
        <a:srgbClr val="7E434B"/>
      </a:accent3>
      <a:accent4>
        <a:srgbClr val="4F6B3A"/>
      </a:accent4>
      <a:accent5>
        <a:srgbClr val="78AEB7"/>
      </a:accent5>
      <a:accent6>
        <a:srgbClr val="9E6068"/>
      </a:accent6>
      <a:hlink>
        <a:srgbClr val="2C6872"/>
      </a:hlink>
      <a:folHlink>
        <a:srgbClr val="7E434B"/>
      </a:folHlink>
    </a:clrScheme>
    <a:fontScheme name="Final Signature OB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職位裁撤溝通中的組織行為分析</dc:title>
  <dc:subject>PptxGenJS Presentation</dc:subject>
  <dc:creator>PptxGenJS</dc:creator>
  <cp:lastModifiedBy>PptxGenJS</cp:lastModifiedBy>
  <cp:revision>1</cp:revision>
  <dcterms:created xsi:type="dcterms:W3CDTF">2026-10-21T03:29:51Z</dcterms:created>
  <dcterms:modified xsi:type="dcterms:W3CDTF">2026-10-21T03:29:51Z</dcterms:modified>
</cp:coreProperties>
</file>